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64" r:id="rId2"/>
    <p:sldId id="257" r:id="rId3"/>
    <p:sldId id="258" r:id="rId4"/>
    <p:sldId id="259"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53"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279061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1858282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1675490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402BFBA-85D9-4757-93CF-DCC07E93CAEC}"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3687751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402BFBA-85D9-4757-93CF-DCC07E93CAEC}"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2649818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402BFBA-85D9-4757-93CF-DCC07E93CAEC}"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185195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02BFBA-85D9-4757-93CF-DCC07E93CAEC}"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3909039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02BFBA-85D9-4757-93CF-DCC07E93CAEC}"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4110359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02BFBA-85D9-4757-93CF-DCC07E93CAEC}"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505379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3192410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32250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9305190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97554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3882464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223903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402BFBA-85D9-4757-93CF-DCC07E93CAEC}"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ECFF66-D72B-4AE7-B0A9-102FBF079DDD}" type="slidenum">
              <a:rPr lang="en-US" smtClean="0"/>
              <a:t>‹#›</a:t>
            </a:fld>
            <a:endParaRPr lang="en-US"/>
          </a:p>
        </p:txBody>
      </p:sp>
    </p:spTree>
    <p:extLst>
      <p:ext uri="{BB962C8B-B14F-4D97-AF65-F5344CB8AC3E}">
        <p14:creationId xmlns:p14="http://schemas.microsoft.com/office/powerpoint/2010/main" val="333481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402BFBA-85D9-4757-93CF-DCC07E93CAEC}" type="datetimeFigureOut">
              <a:rPr lang="en-US" smtClean="0"/>
              <a:t>9/27/2026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DECFF66-D72B-4AE7-B0A9-102FBF079DDD}" type="slidenum">
              <a:rPr lang="en-US" smtClean="0"/>
              <a:t>‹#›</a:t>
            </a:fld>
            <a:endParaRPr lang="en-US"/>
          </a:p>
        </p:txBody>
      </p:sp>
    </p:spTree>
    <p:extLst>
      <p:ext uri="{BB962C8B-B14F-4D97-AF65-F5344CB8AC3E}">
        <p14:creationId xmlns:p14="http://schemas.microsoft.com/office/powerpoint/2010/main" val="303962444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0755" y="1096237"/>
            <a:ext cx="9144000" cy="3623808"/>
          </a:xfrm>
          <a:noFill/>
          <a:ln/>
        </p:spPr>
        <p:txBody>
          <a:bodyPr vert="horz" wrap="square" lIns="0" tIns="0" rIns="0" bIns="0" rtlCol="0" anchor="ctr">
            <a:normAutofit/>
          </a:bodyPr>
          <a:lstStyle/>
          <a:p>
            <a:r>
              <a:rPr lang="en-US" sz="3200" b="1" dirty="0">
                <a:latin typeface="Arial Rounded MT Bold" panose="020F0704030504030204" pitchFamily="34" charset="0"/>
              </a:rPr>
              <a:t>AI XLSX Dashboard </a:t>
            </a:r>
            <a:r>
              <a:rPr lang="en-US" sz="3200" b="1" dirty="0" smtClean="0">
                <a:latin typeface="Arial Rounded MT Bold" panose="020F0704030504030204" pitchFamily="34" charset="0"/>
              </a:rPr>
              <a:t>Generator</a:t>
            </a:r>
            <a:br>
              <a:rPr lang="en-US" sz="3200" b="1" dirty="0" smtClean="0">
                <a:latin typeface="Arial Rounded MT Bold" panose="020F0704030504030204" pitchFamily="34" charset="0"/>
              </a:rPr>
            </a:br>
            <a:r>
              <a:rPr lang="en-US" sz="3200" b="1" dirty="0">
                <a:latin typeface="Arial Rounded MT Bold" panose="020F0704030504030204" pitchFamily="34" charset="0"/>
              </a:rPr>
              <a:t/>
            </a:r>
            <a:br>
              <a:rPr lang="en-US" sz="3200" b="1" dirty="0">
                <a:latin typeface="Arial Rounded MT Bold" panose="020F0704030504030204" pitchFamily="34" charset="0"/>
              </a:rPr>
            </a:br>
            <a:endParaRPr lang="en-US" sz="1800" dirty="0">
              <a:latin typeface="Arial Rounded MT Bold" panose="020F0704030504030204" pitchFamily="34" charset="0"/>
            </a:endParaRPr>
          </a:p>
        </p:txBody>
      </p:sp>
      <p:sp>
        <p:nvSpPr>
          <p:cNvPr id="4" name="Pentagon 3"/>
          <p:cNvSpPr/>
          <p:nvPr/>
        </p:nvSpPr>
        <p:spPr>
          <a:xfrm>
            <a:off x="1524000" y="1027612"/>
            <a:ext cx="10302240" cy="3936274"/>
          </a:xfrm>
          <a:prstGeom prst="homePlate">
            <a:avLst/>
          </a:prstGeom>
          <a:noFill/>
          <a:ln w="38100" cmpd="sng">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094520" y="5196734"/>
            <a:ext cx="6096000" cy="923330"/>
          </a:xfrm>
          <a:prstGeom prst="rect">
            <a:avLst/>
          </a:prstGeom>
        </p:spPr>
        <p:txBody>
          <a:bodyPr>
            <a:spAutoFit/>
          </a:bodyPr>
          <a:lstStyle/>
          <a:p>
            <a:r>
              <a:rPr lang="en-US" dirty="0">
                <a:latin typeface="Arial Rounded MT Bold" panose="020F0704030504030204" pitchFamily="34" charset="0"/>
              </a:rPr>
              <a:t>Link :https://products.aspose.ai/cells/dashboard/xlsx?utm_source=chatgpt.com</a:t>
            </a:r>
            <a:endParaRPr lang="en-US" dirty="0"/>
          </a:p>
        </p:txBody>
      </p:sp>
    </p:spTree>
    <p:extLst>
      <p:ext uri="{BB962C8B-B14F-4D97-AF65-F5344CB8AC3E}">
        <p14:creationId xmlns:p14="http://schemas.microsoft.com/office/powerpoint/2010/main" val="1669835589"/>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a:spLocks noGrp="1"/>
          </p:cNvSpPr>
          <p:nvPr>
            <p:ph type="title"/>
          </p:nvPr>
        </p:nvSpPr>
        <p:spPr>
          <a:xfrm>
            <a:off x="695325" y="199658"/>
            <a:ext cx="10515600" cy="1325563"/>
          </a:xfrm>
          <a:prstGeom prst="rect">
            <a:avLst/>
          </a:prstGeom>
          <a:noFill/>
          <a:ln/>
        </p:spPr>
        <p:txBody>
          <a:bodyPr wrap="square" lIns="0" tIns="0" rIns="0" bIns="0" rtlCol="0" anchor="ctr"/>
          <a:lstStyle/>
          <a:p>
            <a:pPr marL="457200" indent="-457200">
              <a:buFont typeface="Wingdings" panose="05000000000000000000" pitchFamily="2" charset="2"/>
              <a:buChar char="v"/>
            </a:pPr>
            <a:r>
              <a:rPr lang="en-US" sz="3200" b="1" dirty="0">
                <a:solidFill>
                  <a:schemeClr val="accent1">
                    <a:lumMod val="75000"/>
                  </a:schemeClr>
                </a:solidFill>
                <a:latin typeface="Arial Rounded MT Bold" panose="020F0704030504030204" pitchFamily="34" charset="0"/>
                <a:ea typeface="Cambria" pitchFamily="34" charset="-122"/>
                <a:cs typeface="Cambria" pitchFamily="34" charset="-120"/>
              </a:rPr>
              <a:t>Introduction </a:t>
            </a:r>
            <a:r>
              <a:rPr lang="en-US" sz="3200" b="1" dirty="0" smtClean="0">
                <a:solidFill>
                  <a:schemeClr val="accent1">
                    <a:lumMod val="75000"/>
                  </a:schemeClr>
                </a:solidFill>
                <a:latin typeface="Arial Rounded MT Bold" panose="020F0704030504030204" pitchFamily="34" charset="0"/>
                <a:ea typeface="Cambria" pitchFamily="34" charset="-122"/>
                <a:cs typeface="Cambria" pitchFamily="34" charset="-120"/>
              </a:rPr>
              <a:t>to </a:t>
            </a:r>
            <a:r>
              <a:rPr lang="en-US" sz="3200" b="1" dirty="0">
                <a:solidFill>
                  <a:schemeClr val="accent1">
                    <a:lumMod val="75000"/>
                  </a:schemeClr>
                </a:solidFill>
                <a:latin typeface="Arial Rounded MT Bold" panose="020F0704030504030204" pitchFamily="34" charset="0"/>
                <a:ea typeface="Cambria" pitchFamily="34" charset="-122"/>
                <a:cs typeface="Cambria" pitchFamily="34" charset="-120"/>
              </a:rPr>
              <a:t>AI XLSX Dashboard Generator</a:t>
            </a:r>
          </a:p>
        </p:txBody>
      </p:sp>
      <p:sp>
        <p:nvSpPr>
          <p:cNvPr id="3" name="Content Placeholder 2"/>
          <p:cNvSpPr>
            <a:spLocks noGrp="1"/>
          </p:cNvSpPr>
          <p:nvPr>
            <p:ph idx="1"/>
          </p:nvPr>
        </p:nvSpPr>
        <p:spPr>
          <a:xfrm>
            <a:off x="672737" y="1792151"/>
            <a:ext cx="10515600" cy="4351338"/>
          </a:xfrm>
        </p:spPr>
        <p:txBody>
          <a:bodyPr>
            <a:normAutofit/>
          </a:bodyPr>
          <a:lstStyle/>
          <a:p>
            <a:r>
              <a:rPr lang="en-US" sz="2400" dirty="0">
                <a:latin typeface="Arial Rounded MT Bold" panose="020F0704030504030204" pitchFamily="34" charset="0"/>
              </a:rPr>
              <a:t>AI XLSX Dashboard Generator is an AI-powered tool for creating dashboards from Excel data. </a:t>
            </a:r>
          </a:p>
          <a:p>
            <a:r>
              <a:rPr lang="en-US" sz="2400" dirty="0">
                <a:latin typeface="Arial Rounded MT Bold" panose="020F0704030504030204" pitchFamily="34" charset="0"/>
              </a:rPr>
              <a:t>It converts raw spreadsheet data into a clear and interactive dashboard. </a:t>
            </a:r>
          </a:p>
          <a:p>
            <a:r>
              <a:rPr lang="en-US" sz="2400" dirty="0">
                <a:latin typeface="Arial Rounded MT Bold" panose="020F0704030504030204" pitchFamily="34" charset="0"/>
              </a:rPr>
              <a:t>It helps users analyze data without manually creating every chart. </a:t>
            </a:r>
          </a:p>
          <a:p>
            <a:r>
              <a:rPr lang="en-US" sz="2400" dirty="0">
                <a:latin typeface="Arial Rounded MT Bold" panose="020F0704030504030204" pitchFamily="34" charset="0"/>
              </a:rPr>
              <a:t>The generated dashboard can be opened and edited in Excel. </a:t>
            </a:r>
          </a:p>
          <a:p>
            <a:r>
              <a:rPr lang="en-US" sz="2400" dirty="0">
                <a:latin typeface="Arial Rounded MT Bold" panose="020F0704030504030204" pitchFamily="34" charset="0"/>
              </a:rPr>
              <a:t>It is useful for quick data analysis and visualization. </a:t>
            </a:r>
          </a:p>
          <a:p>
            <a:pPr marL="0" indent="0">
              <a:buNone/>
            </a:pPr>
            <a:r>
              <a:rPr lang="en-US" sz="2400" dirty="0">
                <a:solidFill>
                  <a:schemeClr val="tx1">
                    <a:lumMod val="75000"/>
                    <a:lumOff val="25000"/>
                  </a:schemeClr>
                </a:solidFill>
                <a:latin typeface="Arial Rounded MT Bold" panose="020F0704030504030204" pitchFamily="34" charset="0"/>
              </a:rPr>
              <a:t/>
            </a:r>
            <a:br>
              <a:rPr lang="en-US" sz="2400" dirty="0">
                <a:solidFill>
                  <a:schemeClr val="tx1">
                    <a:lumMod val="75000"/>
                    <a:lumOff val="25000"/>
                  </a:schemeClr>
                </a:solidFill>
                <a:latin typeface="Arial Rounded MT Bold" panose="020F0704030504030204" pitchFamily="34" charset="0"/>
              </a:rPr>
            </a:br>
            <a:endParaRPr lang="en-US" sz="2400" dirty="0">
              <a:latin typeface="Arial Rounded MT Bold" panose="020F0704030504030204" pitchFamily="34" charset="0"/>
            </a:endParaRPr>
          </a:p>
        </p:txBody>
      </p:sp>
    </p:spTree>
    <p:extLst>
      <p:ext uri="{BB962C8B-B14F-4D97-AF65-F5344CB8AC3E}">
        <p14:creationId xmlns:p14="http://schemas.microsoft.com/office/powerpoint/2010/main" val="2653089152"/>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342" y="173330"/>
            <a:ext cx="10515600" cy="1325563"/>
          </a:xfrm>
          <a:noFill/>
          <a:ln/>
        </p:spPr>
        <p:txBody>
          <a:bodyPr vert="horz" wrap="square" lIns="0" tIns="0" rIns="0" bIns="0" rtlCol="0" anchor="ctr">
            <a:normAutofit/>
          </a:bodyPr>
          <a:lstStyle/>
          <a:p>
            <a:pPr marL="457200" indent="-457200">
              <a:buFont typeface="Wingdings" panose="05000000000000000000" pitchFamily="2" charset="2"/>
              <a:buChar char="v"/>
            </a:pPr>
            <a:r>
              <a:rPr lang="en-US" sz="3200" b="1" dirty="0">
                <a:solidFill>
                  <a:schemeClr val="accent1">
                    <a:lumMod val="75000"/>
                  </a:schemeClr>
                </a:solidFill>
                <a:latin typeface="Arial Rounded MT Bold" panose="020F0704030504030204" pitchFamily="34" charset="0"/>
                <a:ea typeface="Cambria" pitchFamily="34" charset="-122"/>
                <a:cs typeface="Cambria" pitchFamily="34" charset="-120"/>
              </a:rPr>
              <a:t>Key Features</a:t>
            </a:r>
          </a:p>
        </p:txBody>
      </p:sp>
      <p:sp>
        <p:nvSpPr>
          <p:cNvPr id="4" name="Rectangle 1"/>
          <p:cNvSpPr>
            <a:spLocks noChangeArrowheads="1"/>
          </p:cNvSpPr>
          <p:nvPr/>
        </p:nvSpPr>
        <p:spPr bwMode="auto">
          <a:xfrm>
            <a:off x="900345" y="1455537"/>
            <a:ext cx="9051525" cy="4524315"/>
          </a:xfrm>
          <a:prstGeom prst="rect">
            <a:avLst/>
          </a:prstGeom>
        </p:spPr>
        <p:txBody>
          <a:bodyPr wrap="square">
            <a:spAutoFit/>
          </a:bodyPr>
          <a:lstStyle/>
          <a:p>
            <a:pPr marL="342900" indent="-342900">
              <a:buFont typeface="Arial" panose="020B0604020202020204" pitchFamily="34" charset="0"/>
              <a:buChar char="•"/>
            </a:pPr>
            <a:r>
              <a:rPr lang="en-US" altLang="en-US" sz="2400" b="1" dirty="0">
                <a:latin typeface="Arial Rounded MT Bold" panose="020F0704030504030204" pitchFamily="34" charset="0"/>
              </a:rPr>
              <a:t>Excel Data </a:t>
            </a:r>
            <a:r>
              <a:rPr lang="en-US" altLang="en-US" sz="2400" b="1" dirty="0" smtClean="0">
                <a:latin typeface="Arial Rounded MT Bold" panose="020F0704030504030204" pitchFamily="34" charset="0"/>
              </a:rPr>
              <a:t>Support </a:t>
            </a:r>
          </a:p>
          <a:p>
            <a:r>
              <a:rPr lang="en-US" altLang="en-US" sz="2400" b="1" dirty="0">
                <a:latin typeface="Arial Rounded MT Bold" panose="020F0704030504030204" pitchFamily="34" charset="0"/>
              </a:rPr>
              <a:t> </a:t>
            </a:r>
            <a:r>
              <a:rPr lang="en-US" altLang="en-US" sz="2400" b="1" dirty="0" smtClean="0">
                <a:latin typeface="Arial Rounded MT Bold" panose="020F0704030504030204" pitchFamily="34" charset="0"/>
              </a:rPr>
              <a:t>     – </a:t>
            </a:r>
            <a:r>
              <a:rPr lang="en-US" altLang="en-US" sz="2000" dirty="0" smtClean="0">
                <a:latin typeface="Arial Rounded MT Bold" panose="020F0704030504030204" pitchFamily="34" charset="0"/>
              </a:rPr>
              <a:t>Works with XLSX and other spreadsheet data</a:t>
            </a:r>
            <a:r>
              <a:rPr lang="en-US" altLang="en-US" sz="2400" b="1" dirty="0" smtClean="0">
                <a:latin typeface="Arial Rounded MT Bold" panose="020F0704030504030204" pitchFamily="34" charset="0"/>
              </a:rPr>
              <a:t>. </a:t>
            </a:r>
            <a:endParaRPr lang="en-US" altLang="en-US" sz="2400" b="1" dirty="0">
              <a:latin typeface="Arial Rounded MT Bold" panose="020F0704030504030204" pitchFamily="34" charset="0"/>
            </a:endParaRPr>
          </a:p>
          <a:p>
            <a:pPr marL="342900" indent="-342900">
              <a:buFont typeface="Arial" panose="020B0604020202020204" pitchFamily="34" charset="0"/>
              <a:buChar char="•"/>
            </a:pPr>
            <a:r>
              <a:rPr lang="en-US" altLang="en-US" sz="2400" b="1" dirty="0">
                <a:latin typeface="Arial Rounded MT Bold" panose="020F0704030504030204" pitchFamily="34" charset="0"/>
              </a:rPr>
              <a:t>Automatic </a:t>
            </a:r>
            <a:r>
              <a:rPr lang="en-US" altLang="en-US" sz="2400" b="1" dirty="0" smtClean="0">
                <a:latin typeface="Arial Rounded MT Bold" panose="020F0704030504030204" pitchFamily="34" charset="0"/>
              </a:rPr>
              <a:t>Dashboard</a:t>
            </a:r>
          </a:p>
          <a:p>
            <a:r>
              <a:rPr lang="en-US" altLang="en-US" sz="2400" b="1" dirty="0">
                <a:latin typeface="Arial Rounded MT Bold" panose="020F0704030504030204" pitchFamily="34" charset="0"/>
              </a:rPr>
              <a:t> </a:t>
            </a:r>
            <a:r>
              <a:rPr lang="en-US" altLang="en-US" sz="2400" b="1" dirty="0" smtClean="0">
                <a:latin typeface="Arial Rounded MT Bold" panose="020F0704030504030204" pitchFamily="34" charset="0"/>
              </a:rPr>
              <a:t>     </a:t>
            </a:r>
            <a:r>
              <a:rPr lang="en-US" altLang="en-US" sz="2000" dirty="0">
                <a:latin typeface="Arial Rounded MT Bold" panose="020F0704030504030204" pitchFamily="34" charset="0"/>
              </a:rPr>
              <a:t>– Creates a dashboard from uploaded data. </a:t>
            </a:r>
          </a:p>
          <a:p>
            <a:pPr marL="342900" indent="-342900">
              <a:buFont typeface="Arial" panose="020B0604020202020204" pitchFamily="34" charset="0"/>
              <a:buChar char="•"/>
            </a:pPr>
            <a:r>
              <a:rPr lang="en-US" altLang="en-US" sz="2400" b="1" dirty="0">
                <a:latin typeface="Arial Rounded MT Bold" panose="020F0704030504030204" pitchFamily="34" charset="0"/>
              </a:rPr>
              <a:t>KPI </a:t>
            </a:r>
            <a:r>
              <a:rPr lang="en-US" altLang="en-US" sz="2400" b="1" dirty="0" smtClean="0">
                <a:latin typeface="Arial Rounded MT Bold" panose="020F0704030504030204" pitchFamily="34" charset="0"/>
              </a:rPr>
              <a:t>Cards</a:t>
            </a:r>
          </a:p>
          <a:p>
            <a:r>
              <a:rPr lang="en-US" altLang="en-US" sz="2400" b="1" dirty="0">
                <a:latin typeface="Arial Rounded MT Bold" panose="020F0704030504030204" pitchFamily="34" charset="0"/>
              </a:rPr>
              <a:t> </a:t>
            </a:r>
            <a:r>
              <a:rPr lang="en-US" altLang="en-US" sz="2400" b="1" dirty="0" smtClean="0">
                <a:latin typeface="Arial Rounded MT Bold" panose="020F0704030504030204" pitchFamily="34" charset="0"/>
              </a:rPr>
              <a:t>     </a:t>
            </a:r>
            <a:r>
              <a:rPr lang="en-US" altLang="en-US" sz="2400" b="1" dirty="0">
                <a:latin typeface="Arial Rounded MT Bold" panose="020F0704030504030204" pitchFamily="34" charset="0"/>
              </a:rPr>
              <a:t>– </a:t>
            </a:r>
            <a:r>
              <a:rPr lang="en-US" altLang="en-US" sz="2000" dirty="0">
                <a:latin typeface="Arial Rounded MT Bold" panose="020F0704030504030204" pitchFamily="34" charset="0"/>
              </a:rPr>
              <a:t>Displays important values and performance indicators. </a:t>
            </a:r>
          </a:p>
          <a:p>
            <a:pPr marL="342900" indent="-342900">
              <a:buFont typeface="Arial" panose="020B0604020202020204" pitchFamily="34" charset="0"/>
              <a:buChar char="•"/>
            </a:pPr>
            <a:r>
              <a:rPr lang="en-US" altLang="en-US" sz="2400" b="1" dirty="0">
                <a:latin typeface="Arial Rounded MT Bold" panose="020F0704030504030204" pitchFamily="34" charset="0"/>
              </a:rPr>
              <a:t>Charts &amp; </a:t>
            </a:r>
            <a:r>
              <a:rPr lang="en-US" altLang="en-US" sz="2400" b="1" dirty="0" smtClean="0">
                <a:latin typeface="Arial Rounded MT Bold" panose="020F0704030504030204" pitchFamily="34" charset="0"/>
              </a:rPr>
              <a:t>Graphs</a:t>
            </a:r>
          </a:p>
          <a:p>
            <a:r>
              <a:rPr lang="en-US" altLang="en-US" sz="2400" b="1" dirty="0">
                <a:latin typeface="Arial Rounded MT Bold" panose="020F0704030504030204" pitchFamily="34" charset="0"/>
              </a:rPr>
              <a:t> </a:t>
            </a:r>
            <a:r>
              <a:rPr lang="en-US" altLang="en-US" sz="2400" b="1" dirty="0" smtClean="0">
                <a:latin typeface="Arial Rounded MT Bold" panose="020F0704030504030204" pitchFamily="34" charset="0"/>
              </a:rPr>
              <a:t>     </a:t>
            </a:r>
            <a:r>
              <a:rPr lang="en-US" altLang="en-US" sz="2400" b="1" dirty="0">
                <a:latin typeface="Arial Rounded MT Bold" panose="020F0704030504030204" pitchFamily="34" charset="0"/>
              </a:rPr>
              <a:t>– </a:t>
            </a:r>
            <a:r>
              <a:rPr lang="en-US" altLang="en-US" sz="2000" dirty="0">
                <a:latin typeface="Arial Rounded MT Bold" panose="020F0704030504030204" pitchFamily="34" charset="0"/>
              </a:rPr>
              <a:t>Creates suitable visualizations from the dataset. </a:t>
            </a:r>
          </a:p>
          <a:p>
            <a:pPr marL="342900" indent="-342900">
              <a:buFont typeface="Arial" panose="020B0604020202020204" pitchFamily="34" charset="0"/>
              <a:buChar char="•"/>
            </a:pPr>
            <a:r>
              <a:rPr lang="en-US" altLang="en-US" sz="2400" b="1" dirty="0">
                <a:latin typeface="Arial Rounded MT Bold" panose="020F0704030504030204" pitchFamily="34" charset="0"/>
              </a:rPr>
              <a:t>Editable Excel Dashboard </a:t>
            </a:r>
            <a:endParaRPr lang="en-US" altLang="en-US" sz="2400" b="1" dirty="0" smtClean="0">
              <a:latin typeface="Arial Rounded MT Bold" panose="020F0704030504030204" pitchFamily="34" charset="0"/>
            </a:endParaRPr>
          </a:p>
          <a:p>
            <a:r>
              <a:rPr lang="en-US" altLang="en-US" sz="2400" b="1" dirty="0">
                <a:latin typeface="Arial Rounded MT Bold" panose="020F0704030504030204" pitchFamily="34" charset="0"/>
              </a:rPr>
              <a:t> </a:t>
            </a:r>
            <a:r>
              <a:rPr lang="en-US" altLang="en-US" sz="2400" b="1" dirty="0" smtClean="0">
                <a:latin typeface="Arial Rounded MT Bold" panose="020F0704030504030204" pitchFamily="34" charset="0"/>
              </a:rPr>
              <a:t>     </a:t>
            </a:r>
            <a:r>
              <a:rPr lang="en-US" altLang="en-US" sz="2000" dirty="0" smtClean="0">
                <a:latin typeface="Arial Rounded MT Bold" panose="020F0704030504030204" pitchFamily="34" charset="0"/>
              </a:rPr>
              <a:t>– </a:t>
            </a:r>
            <a:r>
              <a:rPr lang="en-US" altLang="en-US" sz="2000" dirty="0">
                <a:latin typeface="Arial Rounded MT Bold" panose="020F0704030504030204" pitchFamily="34" charset="0"/>
              </a:rPr>
              <a:t>Charts and dashboard elements can be modified in Excel. </a:t>
            </a:r>
          </a:p>
          <a:p>
            <a:pPr marL="342900" indent="-342900">
              <a:buFont typeface="Arial" panose="020B0604020202020204" pitchFamily="34" charset="0"/>
              <a:buChar char="•"/>
            </a:pPr>
            <a:r>
              <a:rPr lang="en-US" altLang="en-US" sz="2400" b="1" dirty="0">
                <a:latin typeface="Arial Rounded MT Bold" panose="020F0704030504030204" pitchFamily="34" charset="0"/>
              </a:rPr>
              <a:t>Easy to Use </a:t>
            </a:r>
            <a:endParaRPr lang="en-US" altLang="en-US" sz="2400" b="1" dirty="0" smtClean="0">
              <a:latin typeface="Arial Rounded MT Bold" panose="020F0704030504030204" pitchFamily="34" charset="0"/>
            </a:endParaRPr>
          </a:p>
          <a:p>
            <a:r>
              <a:rPr lang="en-US" altLang="en-US" sz="2400" b="1" dirty="0">
                <a:latin typeface="Arial Rounded MT Bold" panose="020F0704030504030204" pitchFamily="34" charset="0"/>
              </a:rPr>
              <a:t> </a:t>
            </a:r>
            <a:r>
              <a:rPr lang="en-US" altLang="en-US" sz="2400" b="1" dirty="0" smtClean="0">
                <a:latin typeface="Arial Rounded MT Bold" panose="020F0704030504030204" pitchFamily="34" charset="0"/>
              </a:rPr>
              <a:t>    </a:t>
            </a:r>
            <a:r>
              <a:rPr lang="en-US" altLang="en-US" sz="2000" dirty="0" smtClean="0">
                <a:latin typeface="Arial Rounded MT Bold" panose="020F0704030504030204" pitchFamily="34" charset="0"/>
              </a:rPr>
              <a:t>– </a:t>
            </a:r>
            <a:r>
              <a:rPr lang="en-US" altLang="en-US" sz="2000" dirty="0">
                <a:latin typeface="Arial Rounded MT Bold" panose="020F0704030504030204" pitchFamily="34" charset="0"/>
              </a:rPr>
              <a:t>Requires little or no coding knowledge. </a:t>
            </a:r>
          </a:p>
        </p:txBody>
      </p:sp>
    </p:spTree>
    <p:extLst>
      <p:ext uri="{BB962C8B-B14F-4D97-AF65-F5344CB8AC3E}">
        <p14:creationId xmlns:p14="http://schemas.microsoft.com/office/powerpoint/2010/main" val="1031693102"/>
      </p:ext>
    </p:extLst>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1100" y="384175"/>
            <a:ext cx="10515600" cy="1325563"/>
          </a:xfrm>
          <a:noFill/>
          <a:ln/>
        </p:spPr>
        <p:txBody>
          <a:bodyPr vert="horz" wrap="square" lIns="0" tIns="0" rIns="0" bIns="0" rtlCol="0" anchor="ctr">
            <a:normAutofit/>
          </a:bodyPr>
          <a:lstStyle/>
          <a:p>
            <a:pPr marL="457200" indent="-457200">
              <a:buFont typeface="Wingdings" panose="05000000000000000000" pitchFamily="2" charset="2"/>
              <a:buChar char="v"/>
            </a:pPr>
            <a:r>
              <a:rPr lang="en-US" sz="3200" b="1" dirty="0">
                <a:solidFill>
                  <a:schemeClr val="accent1">
                    <a:lumMod val="75000"/>
                  </a:schemeClr>
                </a:solidFill>
                <a:latin typeface="Arial Rounded MT Bold" panose="020F0704030504030204" pitchFamily="34" charset="0"/>
                <a:ea typeface="Cambria" pitchFamily="34" charset="-122"/>
                <a:cs typeface="Cambria" pitchFamily="34" charset="-120"/>
              </a:rPr>
              <a:t> AI Features</a:t>
            </a:r>
          </a:p>
        </p:txBody>
      </p:sp>
      <p:sp>
        <p:nvSpPr>
          <p:cNvPr id="4" name="Rectangle 1"/>
          <p:cNvSpPr>
            <a:spLocks noChangeArrowheads="1"/>
          </p:cNvSpPr>
          <p:nvPr/>
        </p:nvSpPr>
        <p:spPr bwMode="auto">
          <a:xfrm>
            <a:off x="1120344" y="1770530"/>
            <a:ext cx="12237645" cy="3785652"/>
          </a:xfrm>
          <a:prstGeom prst="rect">
            <a:avLst/>
          </a:prstGeom>
        </p:spPr>
        <p:txBody>
          <a:bodyPr wrap="square">
            <a:spAutoFit/>
          </a:bodyPr>
          <a:lstStyle/>
          <a:p>
            <a:pPr marL="342900" indent="-342900">
              <a:buFont typeface="Arial" panose="020B0604020202020204" pitchFamily="34" charset="0"/>
              <a:buChar char="•"/>
            </a:pPr>
            <a:r>
              <a:rPr lang="en-US" altLang="en-US" sz="2400" b="1" dirty="0">
                <a:latin typeface="Arial Rounded MT Bold" panose="020F0704030504030204" pitchFamily="34" charset="0"/>
              </a:rPr>
              <a:t>AI Data Analysis </a:t>
            </a:r>
            <a:endParaRPr lang="en-US" altLang="en-US" sz="2400" b="1" dirty="0" smtClean="0">
              <a:latin typeface="Arial Rounded MT Bold" panose="020F0704030504030204" pitchFamily="34" charset="0"/>
            </a:endParaRPr>
          </a:p>
          <a:p>
            <a:r>
              <a:rPr lang="en-US" altLang="en-US" sz="2400" b="1" dirty="0">
                <a:latin typeface="Arial Rounded MT Bold" panose="020F0704030504030204" pitchFamily="34" charset="0"/>
              </a:rPr>
              <a:t> </a:t>
            </a:r>
            <a:r>
              <a:rPr lang="en-US" altLang="en-US" sz="2400" b="1" dirty="0" smtClean="0">
                <a:latin typeface="Arial Rounded MT Bold" panose="020F0704030504030204" pitchFamily="34" charset="0"/>
              </a:rPr>
              <a:t>    – </a:t>
            </a:r>
            <a:r>
              <a:rPr lang="en-US" altLang="en-US" sz="2400" dirty="0">
                <a:latin typeface="Arial Rounded MT Bold" panose="020F0704030504030204" pitchFamily="34" charset="0"/>
              </a:rPr>
              <a:t>Examines the uploaded spreadsheet.</a:t>
            </a:r>
            <a:r>
              <a:rPr lang="en-US" altLang="en-US" sz="2400" b="1" dirty="0">
                <a:latin typeface="Arial Rounded MT Bold" panose="020F0704030504030204" pitchFamily="34" charset="0"/>
              </a:rPr>
              <a:t> </a:t>
            </a:r>
            <a:endParaRPr lang="en-US" altLang="en-US" sz="2400" b="1" dirty="0" smtClean="0">
              <a:latin typeface="Arial Rounded MT Bold" panose="020F0704030504030204" pitchFamily="34" charset="0"/>
            </a:endParaRPr>
          </a:p>
          <a:p>
            <a:pPr marL="342900" indent="-342900">
              <a:buFont typeface="Arial" panose="020B0604020202020204" pitchFamily="34" charset="0"/>
              <a:buChar char="•"/>
            </a:pPr>
            <a:r>
              <a:rPr lang="en-US" altLang="en-US" sz="2400" b="1" dirty="0" smtClean="0">
                <a:latin typeface="Arial Rounded MT Bold" panose="020F0704030504030204" pitchFamily="34" charset="0"/>
              </a:rPr>
              <a:t>Smart </a:t>
            </a:r>
            <a:r>
              <a:rPr lang="en-US" altLang="en-US" sz="2400" b="1" dirty="0">
                <a:latin typeface="Arial Rounded MT Bold" panose="020F0704030504030204" pitchFamily="34" charset="0"/>
              </a:rPr>
              <a:t>KPI Selection </a:t>
            </a:r>
          </a:p>
          <a:p>
            <a:r>
              <a:rPr lang="en-US" altLang="en-US" sz="2400" b="1" dirty="0" smtClean="0">
                <a:latin typeface="Arial Rounded MT Bold" panose="020F0704030504030204" pitchFamily="34" charset="0"/>
              </a:rPr>
              <a:t>     – </a:t>
            </a:r>
            <a:r>
              <a:rPr lang="en-US" altLang="en-US" sz="2400" dirty="0">
                <a:latin typeface="Arial Rounded MT Bold" panose="020F0704030504030204" pitchFamily="34" charset="0"/>
              </a:rPr>
              <a:t>Identifies important metrics from the data.</a:t>
            </a:r>
            <a:r>
              <a:rPr lang="en-US" altLang="en-US" sz="2400" b="1" dirty="0">
                <a:latin typeface="Arial Rounded MT Bold" panose="020F0704030504030204" pitchFamily="34" charset="0"/>
              </a:rPr>
              <a:t> </a:t>
            </a:r>
          </a:p>
          <a:p>
            <a:pPr marL="342900" indent="-342900">
              <a:buFont typeface="Arial" panose="020B0604020202020204" pitchFamily="34" charset="0"/>
              <a:buChar char="•"/>
            </a:pPr>
            <a:r>
              <a:rPr lang="en-US" altLang="en-US" sz="2400" b="1" dirty="0">
                <a:latin typeface="Arial Rounded MT Bold" panose="020F0704030504030204" pitchFamily="34" charset="0"/>
              </a:rPr>
              <a:t>Chart Recommendation </a:t>
            </a:r>
            <a:endParaRPr lang="en-US" altLang="en-US" sz="2400" b="1" dirty="0" smtClean="0">
              <a:latin typeface="Arial Rounded MT Bold" panose="020F0704030504030204" pitchFamily="34" charset="0"/>
            </a:endParaRPr>
          </a:p>
          <a:p>
            <a:r>
              <a:rPr lang="en-US" altLang="en-US" sz="2400" b="1" dirty="0">
                <a:latin typeface="Arial Rounded MT Bold" panose="020F0704030504030204" pitchFamily="34" charset="0"/>
              </a:rPr>
              <a:t> </a:t>
            </a:r>
            <a:r>
              <a:rPr lang="en-US" altLang="en-US" sz="2400" b="1" dirty="0" smtClean="0">
                <a:latin typeface="Arial Rounded MT Bold" panose="020F0704030504030204" pitchFamily="34" charset="0"/>
              </a:rPr>
              <a:t>    – </a:t>
            </a:r>
            <a:r>
              <a:rPr lang="en-US" altLang="en-US" sz="2400" dirty="0">
                <a:latin typeface="Arial Rounded MT Bold" panose="020F0704030504030204" pitchFamily="34" charset="0"/>
              </a:rPr>
              <a:t>Selects suitable chart types.</a:t>
            </a:r>
            <a:r>
              <a:rPr lang="en-US" altLang="en-US" sz="2400" b="1" dirty="0">
                <a:latin typeface="Arial Rounded MT Bold" panose="020F0704030504030204" pitchFamily="34" charset="0"/>
              </a:rPr>
              <a:t> </a:t>
            </a:r>
          </a:p>
          <a:p>
            <a:pPr marL="342900" indent="-342900">
              <a:buFont typeface="Arial" panose="020B0604020202020204" pitchFamily="34" charset="0"/>
              <a:buChar char="•"/>
            </a:pPr>
            <a:r>
              <a:rPr lang="en-US" altLang="en-US" sz="2400" b="1" dirty="0">
                <a:latin typeface="Arial Rounded MT Bold" panose="020F0704030504030204" pitchFamily="34" charset="0"/>
              </a:rPr>
              <a:t>Trend Identification </a:t>
            </a:r>
            <a:endParaRPr lang="en-US" altLang="en-US" sz="2400" b="1" dirty="0" smtClean="0">
              <a:latin typeface="Arial Rounded MT Bold" panose="020F0704030504030204" pitchFamily="34" charset="0"/>
            </a:endParaRPr>
          </a:p>
          <a:p>
            <a:r>
              <a:rPr lang="en-US" altLang="en-US" sz="2400" b="1" dirty="0">
                <a:latin typeface="Arial Rounded MT Bold" panose="020F0704030504030204" pitchFamily="34" charset="0"/>
              </a:rPr>
              <a:t> </a:t>
            </a:r>
            <a:r>
              <a:rPr lang="en-US" altLang="en-US" sz="2400" b="1" dirty="0" smtClean="0">
                <a:latin typeface="Arial Rounded MT Bold" panose="020F0704030504030204" pitchFamily="34" charset="0"/>
              </a:rPr>
              <a:t>    – </a:t>
            </a:r>
            <a:r>
              <a:rPr lang="en-US" altLang="en-US" sz="2400" dirty="0">
                <a:latin typeface="Arial Rounded MT Bold" panose="020F0704030504030204" pitchFamily="34" charset="0"/>
              </a:rPr>
              <a:t>Helps identify patterns and changes. </a:t>
            </a:r>
          </a:p>
          <a:p>
            <a:pPr marL="342900" indent="-342900">
              <a:buFont typeface="Arial" panose="020B0604020202020204" pitchFamily="34" charset="0"/>
              <a:buChar char="•"/>
            </a:pPr>
            <a:r>
              <a:rPr lang="en-US" altLang="en-US" sz="2400" b="1" dirty="0">
                <a:latin typeface="Arial Rounded MT Bold" panose="020F0704030504030204" pitchFamily="34" charset="0"/>
              </a:rPr>
              <a:t>Automatic Dashboard Planning </a:t>
            </a:r>
          </a:p>
          <a:p>
            <a:r>
              <a:rPr lang="en-US" altLang="en-US" sz="2400" b="1" dirty="0" smtClean="0">
                <a:latin typeface="Arial Rounded MT Bold" panose="020F0704030504030204" pitchFamily="34" charset="0"/>
              </a:rPr>
              <a:t>     –</a:t>
            </a:r>
            <a:r>
              <a:rPr lang="en-US" altLang="en-US" sz="2400" dirty="0" smtClean="0">
                <a:latin typeface="Arial Rounded MT Bold" panose="020F0704030504030204" pitchFamily="34" charset="0"/>
              </a:rPr>
              <a:t> </a:t>
            </a:r>
            <a:r>
              <a:rPr lang="en-US" altLang="en-US" sz="2400" dirty="0">
                <a:latin typeface="Arial Rounded MT Bold" panose="020F0704030504030204" pitchFamily="34" charset="0"/>
              </a:rPr>
              <a:t>Organizes KPIs, charts and summaries.</a:t>
            </a:r>
            <a:r>
              <a:rPr lang="en-US" altLang="en-US" sz="2400" b="1" dirty="0">
                <a:latin typeface="Arial Rounded MT Bold" panose="020F0704030504030204" pitchFamily="34" charset="0"/>
              </a:rPr>
              <a:t> </a:t>
            </a:r>
          </a:p>
        </p:txBody>
      </p:sp>
    </p:spTree>
    <p:extLst>
      <p:ext uri="{BB962C8B-B14F-4D97-AF65-F5344CB8AC3E}">
        <p14:creationId xmlns:p14="http://schemas.microsoft.com/office/powerpoint/2010/main" val="1253886473"/>
      </p:ext>
    </p:extLst>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6172200" y="415425"/>
            <a:ext cx="5183188" cy="823912"/>
          </a:xfrm>
        </p:spPr>
        <p:txBody>
          <a:bodyPr vert="horz" lIns="91440" tIns="45720" rIns="91440" bIns="45720" rtlCol="0" anchor="ctr">
            <a:normAutofit/>
          </a:bodyPr>
          <a:lstStyle/>
          <a:p>
            <a:pPr marL="342900" indent="-342900">
              <a:buFont typeface="Wingdings" panose="05000000000000000000" pitchFamily="2" charset="2"/>
              <a:buChar char="v"/>
            </a:pPr>
            <a:r>
              <a:rPr lang="en-US" dirty="0">
                <a:solidFill>
                  <a:schemeClr val="accent1">
                    <a:lumMod val="75000"/>
                  </a:schemeClr>
                </a:solidFill>
                <a:latin typeface="Arial Rounded MT Bold" panose="020F0704030504030204" pitchFamily="34" charset="0"/>
                <a:ea typeface="Cambria" pitchFamily="34" charset="-122"/>
                <a:cs typeface="Cambria" pitchFamily="34" charset="-120"/>
              </a:rPr>
              <a:t>Disadvantages</a:t>
            </a:r>
          </a:p>
        </p:txBody>
      </p:sp>
      <p:sp>
        <p:nvSpPr>
          <p:cNvPr id="8" name="Rectangle 2"/>
          <p:cNvSpPr>
            <a:spLocks noGrp="1" noChangeArrowheads="1"/>
          </p:cNvSpPr>
          <p:nvPr>
            <p:ph sz="half" idx="2"/>
          </p:nvPr>
        </p:nvSpPr>
        <p:spPr bwMode="auto">
          <a:xfrm>
            <a:off x="6172200" y="2665280"/>
            <a:ext cx="47053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None/>
            </a:pPr>
            <a:endParaRPr lang="en-US" altLang="en-US" sz="1800" dirty="0">
              <a:latin typeface="Bookman Old Style" panose="02050604050505020204" pitchFamily="18" charset="0"/>
            </a:endParaRPr>
          </a:p>
          <a:p>
            <a:pPr marL="0" indent="0" eaLnBrk="0" fontAlgn="base" hangingPunct="0">
              <a:lnSpc>
                <a:spcPct val="100000"/>
              </a:lnSpc>
              <a:spcBef>
                <a:spcPct val="0"/>
              </a:spcBef>
              <a:spcAft>
                <a:spcPct val="0"/>
              </a:spcAft>
              <a:buNone/>
            </a:pPr>
            <a:endParaRPr lang="en-US" altLang="en-US" sz="1800" dirty="0" smtClean="0">
              <a:latin typeface="Bookman Old Style" panose="02050604050505020204" pitchFamily="18" charset="0"/>
            </a:endParaRPr>
          </a:p>
        </p:txBody>
      </p:sp>
      <p:sp>
        <p:nvSpPr>
          <p:cNvPr id="10" name="Text Placeholder 4"/>
          <p:cNvSpPr>
            <a:spLocks noGrp="1"/>
          </p:cNvSpPr>
          <p:nvPr>
            <p:ph type="body" sz="quarter" idx="3"/>
          </p:nvPr>
        </p:nvSpPr>
        <p:spPr>
          <a:xfrm>
            <a:off x="638175" y="393378"/>
            <a:ext cx="5183188" cy="823912"/>
          </a:xfrm>
        </p:spPr>
        <p:txBody>
          <a:bodyPr anchor="ctr"/>
          <a:lstStyle/>
          <a:p>
            <a:pPr marL="342900" indent="-342900">
              <a:buFont typeface="Wingdings" panose="05000000000000000000" pitchFamily="2" charset="2"/>
              <a:buChar char="v"/>
            </a:pPr>
            <a:r>
              <a:rPr lang="en-US" dirty="0">
                <a:solidFill>
                  <a:schemeClr val="accent1">
                    <a:lumMod val="75000"/>
                  </a:schemeClr>
                </a:solidFill>
                <a:latin typeface="Arial Rounded MT Bold" panose="020F0704030504030204" pitchFamily="34" charset="0"/>
                <a:ea typeface="Cambria" pitchFamily="34" charset="-122"/>
                <a:cs typeface="Cambria" pitchFamily="34" charset="-120"/>
              </a:rPr>
              <a:t>Advantages</a:t>
            </a:r>
          </a:p>
        </p:txBody>
      </p:sp>
      <p:sp>
        <p:nvSpPr>
          <p:cNvPr id="11" name="Text Placeholder 4"/>
          <p:cNvSpPr>
            <a:spLocks noGrp="1"/>
          </p:cNvSpPr>
          <p:nvPr>
            <p:ph sz="quarter" idx="4"/>
          </p:nvPr>
        </p:nvSpPr>
        <p:spPr>
          <a:xfrm>
            <a:off x="790575" y="4150120"/>
            <a:ext cx="5183188" cy="823912"/>
          </a:xfrm>
        </p:spPr>
        <p:txBody>
          <a:bodyPr anchor="ctr"/>
          <a:lstStyle/>
          <a:p>
            <a:pPr marL="342900" indent="-342900">
              <a:buFont typeface="Wingdings" panose="05000000000000000000" pitchFamily="2" charset="2"/>
              <a:buChar char="v"/>
            </a:pPr>
            <a:r>
              <a:rPr lang="en-US" dirty="0" smtClean="0">
                <a:solidFill>
                  <a:schemeClr val="accent1">
                    <a:lumMod val="75000"/>
                  </a:schemeClr>
                </a:solidFill>
                <a:latin typeface="Arial Rounded MT Bold" panose="020F0704030504030204" pitchFamily="34" charset="0"/>
                <a:ea typeface="Cambria" pitchFamily="34" charset="-122"/>
                <a:cs typeface="Cambria" pitchFamily="34" charset="-120"/>
              </a:rPr>
              <a:t>Applications</a:t>
            </a:r>
            <a:endParaRPr lang="en-US" dirty="0">
              <a:solidFill>
                <a:schemeClr val="accent1">
                  <a:lumMod val="75000"/>
                </a:schemeClr>
              </a:solidFill>
              <a:latin typeface="Arial Rounded MT Bold" panose="020F0704030504030204" pitchFamily="34" charset="0"/>
              <a:ea typeface="Cambria" pitchFamily="34" charset="-122"/>
              <a:cs typeface="Cambria" pitchFamily="34" charset="-120"/>
            </a:endParaRPr>
          </a:p>
        </p:txBody>
      </p:sp>
      <p:sp>
        <p:nvSpPr>
          <p:cNvPr id="3" name="Rectangle 1"/>
          <p:cNvSpPr>
            <a:spLocks noChangeArrowheads="1"/>
          </p:cNvSpPr>
          <p:nvPr/>
        </p:nvSpPr>
        <p:spPr bwMode="auto">
          <a:xfrm>
            <a:off x="718469" y="1063100"/>
            <a:ext cx="510289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eaLnBrk="0" fontAlgn="base" hangingPunct="0">
              <a:spcBef>
                <a:spcPct val="0"/>
              </a:spcBef>
              <a:spcAft>
                <a:spcPct val="0"/>
              </a:spcAft>
            </a:pPr>
            <a:endParaRPr lang="en-US" altLang="en-US" dirty="0">
              <a:latin typeface="Arial Rounded MT Bold" panose="020F07040305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dirty="0">
                <a:latin typeface="Arial Rounded MT Bold" panose="020F0704030504030204" pitchFamily="34" charset="0"/>
              </a:rPr>
              <a:t>Saves time </a:t>
            </a:r>
            <a:endParaRPr lang="en-US" altLang="en-US" dirty="0" smtClean="0">
              <a:latin typeface="Arial Rounded MT Bold" panose="020F0704030504030204" pitchFamily="34" charset="0"/>
            </a:endParaRPr>
          </a:p>
          <a:p>
            <a:pPr eaLnBrk="0" fontAlgn="base" hangingPunct="0">
              <a:spcBef>
                <a:spcPct val="0"/>
              </a:spcBef>
              <a:spcAft>
                <a:spcPct val="0"/>
              </a:spcAft>
            </a:pPr>
            <a:endParaRPr lang="en-US" altLang="en-US" dirty="0">
              <a:latin typeface="Arial Rounded MT Bold" panose="020F07040305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dirty="0">
                <a:latin typeface="Arial Rounded MT Bold" panose="020F0704030504030204" pitchFamily="34" charset="0"/>
              </a:rPr>
              <a:t>Easy to use </a:t>
            </a:r>
            <a:endParaRPr lang="en-US" altLang="en-US" dirty="0" smtClean="0">
              <a:latin typeface="Arial Rounded MT Bold" panose="020F0704030504030204" pitchFamily="34" charset="0"/>
            </a:endParaRPr>
          </a:p>
          <a:p>
            <a:pPr eaLnBrk="0" fontAlgn="base" hangingPunct="0">
              <a:spcBef>
                <a:spcPct val="0"/>
              </a:spcBef>
              <a:spcAft>
                <a:spcPct val="0"/>
              </a:spcAft>
            </a:pPr>
            <a:endParaRPr lang="en-US" altLang="en-US" dirty="0">
              <a:latin typeface="Arial Rounded MT Bold" panose="020F07040305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dirty="0">
                <a:latin typeface="Arial Rounded MT Bold" panose="020F0704030504030204" pitchFamily="34" charset="0"/>
              </a:rPr>
              <a:t>No advanced coding </a:t>
            </a:r>
            <a:r>
              <a:rPr lang="en-US" altLang="en-US" dirty="0" smtClean="0">
                <a:latin typeface="Arial Rounded MT Bold" panose="020F0704030504030204" pitchFamily="34" charset="0"/>
              </a:rPr>
              <a:t>required</a:t>
            </a:r>
          </a:p>
          <a:p>
            <a:pPr eaLnBrk="0" fontAlgn="base" hangingPunct="0">
              <a:spcBef>
                <a:spcPct val="0"/>
              </a:spcBef>
              <a:spcAft>
                <a:spcPct val="0"/>
              </a:spcAft>
            </a:pPr>
            <a:r>
              <a:rPr lang="en-US" altLang="en-US" dirty="0" smtClean="0">
                <a:latin typeface="Arial Rounded MT Bold" panose="020F0704030504030204" pitchFamily="34" charset="0"/>
              </a:rPr>
              <a:t> </a:t>
            </a:r>
            <a:endParaRPr lang="en-US" altLang="en-US" dirty="0">
              <a:latin typeface="Arial Rounded MT Bold" panose="020F07040305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dirty="0">
                <a:latin typeface="Arial Rounded MT Bold" panose="020F0704030504030204" pitchFamily="34" charset="0"/>
              </a:rPr>
              <a:t>Automatically creates visualizations </a:t>
            </a:r>
            <a:endParaRPr lang="en-US" altLang="en-US" dirty="0" smtClean="0">
              <a:latin typeface="Arial Rounded MT Bold" panose="020F0704030504030204" pitchFamily="34" charset="0"/>
            </a:endParaRPr>
          </a:p>
          <a:p>
            <a:pPr eaLnBrk="0" fontAlgn="base" hangingPunct="0">
              <a:spcBef>
                <a:spcPct val="0"/>
              </a:spcBef>
              <a:spcAft>
                <a:spcPct val="0"/>
              </a:spcAft>
            </a:pPr>
            <a:endParaRPr lang="en-US" altLang="en-US" dirty="0">
              <a:latin typeface="Arial Rounded MT Bold" panose="020F07040305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dirty="0">
                <a:latin typeface="Arial Rounded MT Bold" panose="020F0704030504030204" pitchFamily="34" charset="0"/>
              </a:rPr>
              <a:t>Dashboard remains editable in Excel </a:t>
            </a:r>
          </a:p>
        </p:txBody>
      </p:sp>
      <p:sp>
        <p:nvSpPr>
          <p:cNvPr id="4" name="Rectangle 2"/>
          <p:cNvSpPr>
            <a:spLocks noChangeArrowheads="1"/>
          </p:cNvSpPr>
          <p:nvPr/>
        </p:nvSpPr>
        <p:spPr bwMode="auto">
          <a:xfrm>
            <a:off x="6277200" y="1201600"/>
            <a:ext cx="559520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smtClean="0">
                <a:latin typeface="Arial Rounded MT Bold" panose="020F0704030504030204" pitchFamily="34" charset="0"/>
              </a:rPr>
              <a:t>Works </a:t>
            </a:r>
            <a:r>
              <a:rPr lang="en-US" altLang="en-US" dirty="0">
                <a:latin typeface="Arial Rounded MT Bold" panose="020F0704030504030204" pitchFamily="34" charset="0"/>
              </a:rPr>
              <a:t>best with well-structured </a:t>
            </a:r>
            <a:r>
              <a:rPr lang="en-US" altLang="en-US" dirty="0" smtClean="0">
                <a:latin typeface="Arial Rounded MT Bold" panose="020F0704030504030204" pitchFamily="34" charset="0"/>
              </a:rPr>
              <a:t>data.</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Rounded MT Bold" panose="020F07040305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Rounded MT Bold" panose="020F0704030504030204" pitchFamily="34" charset="0"/>
              </a:rPr>
              <a:t>Complex datasets may require additional </a:t>
            </a:r>
            <a:r>
              <a:rPr lang="en-US" altLang="en-US" dirty="0" smtClean="0">
                <a:latin typeface="Arial Rounded MT Bold" panose="020F0704030504030204" pitchFamily="34" charset="0"/>
              </a:rPr>
              <a:t>analysis.</a:t>
            </a:r>
            <a:endParaRPr lang="en-US" altLang="en-US" dirty="0">
              <a:latin typeface="Arial Rounded MT Bold" panose="020F07040305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Arial Rounded MT Bold" panose="020F0704030504030204" pitchFamily="34" charset="0"/>
              </a:rPr>
              <a:t>AI-generated results should be checked for </a:t>
            </a:r>
            <a:r>
              <a:rPr lang="en-US" altLang="en-US" dirty="0" smtClean="0">
                <a:latin typeface="Arial Rounded MT Bold" panose="020F0704030504030204" pitchFamily="34" charset="0"/>
              </a:rPr>
              <a:t>accuracy.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smtClean="0">
                <a:latin typeface="Arial Rounded MT Bold" panose="020F0704030504030204" pitchFamily="34" charset="0"/>
              </a:rPr>
              <a:t>Advanced customization may be limited.</a:t>
            </a:r>
            <a:endParaRPr lang="en-US" altLang="en-US" dirty="0">
              <a:latin typeface="Arial Rounded MT Bold" panose="020F070403050403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Rounded MT Bold" panose="020F0704030504030204" pitchFamily="34" charset="0"/>
            </a:endParaRPr>
          </a:p>
        </p:txBody>
      </p:sp>
      <p:sp>
        <p:nvSpPr>
          <p:cNvPr id="6" name="Rectangle 3"/>
          <p:cNvSpPr>
            <a:spLocks noChangeArrowheads="1"/>
          </p:cNvSpPr>
          <p:nvPr/>
        </p:nvSpPr>
        <p:spPr bwMode="auto">
          <a:xfrm>
            <a:off x="878892" y="4856911"/>
            <a:ext cx="529330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eaLnBrk="0" fontAlgn="base" hangingPunct="0">
              <a:spcBef>
                <a:spcPct val="0"/>
              </a:spcBef>
              <a:spcAft>
                <a:spcPct val="0"/>
              </a:spcAft>
            </a:pPr>
            <a:endParaRPr lang="en-US" altLang="en-US" dirty="0">
              <a:latin typeface="Arial Rounded MT Bold" panose="020F07040305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dirty="0">
                <a:latin typeface="Arial Rounded MT Bold" panose="020F0704030504030204" pitchFamily="34" charset="0"/>
              </a:rPr>
              <a:t>Sales </a:t>
            </a:r>
            <a:r>
              <a:rPr lang="en-US" altLang="en-US" dirty="0" smtClean="0">
                <a:latin typeface="Arial Rounded MT Bold" panose="020F0704030504030204" pitchFamily="34" charset="0"/>
              </a:rPr>
              <a:t>analysis</a:t>
            </a:r>
          </a:p>
          <a:p>
            <a:pPr eaLnBrk="0" fontAlgn="base" hangingPunct="0">
              <a:spcBef>
                <a:spcPct val="0"/>
              </a:spcBef>
              <a:spcAft>
                <a:spcPct val="0"/>
              </a:spcAft>
            </a:pPr>
            <a:r>
              <a:rPr lang="en-US" altLang="en-US" dirty="0" smtClean="0">
                <a:latin typeface="Arial Rounded MT Bold" panose="020F0704030504030204" pitchFamily="34" charset="0"/>
              </a:rPr>
              <a:t> </a:t>
            </a:r>
            <a:endParaRPr lang="en-US" altLang="en-US" dirty="0">
              <a:latin typeface="Arial Rounded MT Bold" panose="020F07040305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dirty="0">
                <a:latin typeface="Arial Rounded MT Bold" panose="020F0704030504030204" pitchFamily="34" charset="0"/>
              </a:rPr>
              <a:t>Financial reporting </a:t>
            </a:r>
            <a:endParaRPr lang="en-US" altLang="en-US" dirty="0" smtClean="0">
              <a:latin typeface="Arial Rounded MT Bold" panose="020F0704030504030204" pitchFamily="34" charset="0"/>
            </a:endParaRPr>
          </a:p>
          <a:p>
            <a:pPr eaLnBrk="0" fontAlgn="base" hangingPunct="0">
              <a:spcBef>
                <a:spcPct val="0"/>
              </a:spcBef>
              <a:spcAft>
                <a:spcPct val="0"/>
              </a:spcAft>
            </a:pPr>
            <a:endParaRPr lang="en-US" altLang="en-US" dirty="0">
              <a:latin typeface="Arial Rounded MT Bold" panose="020F07040305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dirty="0">
                <a:latin typeface="Arial Rounded MT Bold" panose="020F0704030504030204" pitchFamily="34" charset="0"/>
              </a:rPr>
              <a:t>Business performance </a:t>
            </a:r>
            <a:r>
              <a:rPr lang="en-US" altLang="en-US" dirty="0" smtClean="0">
                <a:latin typeface="Arial Rounded MT Bold" panose="020F0704030504030204" pitchFamily="34" charset="0"/>
              </a:rPr>
              <a:t> etc…</a:t>
            </a:r>
            <a:endParaRPr lang="en-US" altLang="en-US" dirty="0">
              <a:latin typeface="Arial Rounded MT Bold" panose="020F0704030504030204" pitchFamily="34" charset="0"/>
            </a:endParaRPr>
          </a:p>
        </p:txBody>
      </p:sp>
    </p:spTree>
    <p:extLst>
      <p:ext uri="{BB962C8B-B14F-4D97-AF65-F5344CB8AC3E}">
        <p14:creationId xmlns:p14="http://schemas.microsoft.com/office/powerpoint/2010/main" val="153905481"/>
      </p:ext>
    </p:extLst>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1891"/>
            <a:ext cx="10515600" cy="1325563"/>
          </a:xfrm>
        </p:spPr>
        <p:txBody>
          <a:bodyPr>
            <a:normAutofit/>
          </a:bodyPr>
          <a:lstStyle/>
          <a:p>
            <a:pPr marL="457200" indent="-457200">
              <a:buFont typeface="Wingdings" panose="05000000000000000000" pitchFamily="2" charset="2"/>
              <a:buChar char="v"/>
            </a:pPr>
            <a:r>
              <a:rPr lang="en-US" sz="3200" b="1" dirty="0" smtClean="0">
                <a:solidFill>
                  <a:schemeClr val="accent1">
                    <a:lumMod val="75000"/>
                  </a:schemeClr>
                </a:solidFill>
                <a:latin typeface="Arial Rounded MT Bold" panose="020F0704030504030204" pitchFamily="34" charset="0"/>
                <a:ea typeface="Cambria" pitchFamily="34" charset="-122"/>
                <a:cs typeface="Cambria" pitchFamily="34" charset="-120"/>
              </a:rPr>
              <a:t>Conclusion</a:t>
            </a:r>
            <a:endParaRPr lang="en-US" sz="3200" b="1" dirty="0">
              <a:solidFill>
                <a:schemeClr val="accent1">
                  <a:lumMod val="75000"/>
                </a:schemeClr>
              </a:solidFill>
              <a:latin typeface="Arial Rounded MT Bold" panose="020F0704030504030204" pitchFamily="34" charset="0"/>
              <a:ea typeface="Cambria" pitchFamily="34" charset="-122"/>
              <a:cs typeface="Cambria" pitchFamily="34" charset="-120"/>
            </a:endParaRPr>
          </a:p>
        </p:txBody>
      </p:sp>
      <p:sp>
        <p:nvSpPr>
          <p:cNvPr id="3" name="Rectangle 1"/>
          <p:cNvSpPr>
            <a:spLocks noChangeArrowheads="1"/>
          </p:cNvSpPr>
          <p:nvPr/>
        </p:nvSpPr>
        <p:spPr bwMode="auto">
          <a:xfrm>
            <a:off x="838199" y="1529064"/>
            <a:ext cx="932470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342900" indent="-342900">
              <a:buFont typeface="Arial" panose="020B0604020202020204" pitchFamily="34" charset="0"/>
              <a:buChar char="•"/>
            </a:pPr>
            <a:r>
              <a:rPr lang="en-US" sz="2400" dirty="0">
                <a:latin typeface="Arial Rounded MT Bold" panose="020F0704030504030204" pitchFamily="34" charset="0"/>
              </a:rPr>
              <a:t>AI XLSX Dashboard Generator makes </a:t>
            </a:r>
            <a:r>
              <a:rPr lang="en-US" sz="2400" b="1" dirty="0">
                <a:latin typeface="Arial Rounded MT Bold" panose="020F0704030504030204" pitchFamily="34" charset="0"/>
              </a:rPr>
              <a:t>Excel data analysis and visualization easier</a:t>
            </a:r>
            <a:r>
              <a:rPr lang="en-US" sz="2400" dirty="0">
                <a:latin typeface="Arial Rounded MT Bold" panose="020F0704030504030204" pitchFamily="34" charset="0"/>
              </a:rPr>
              <a:t>. </a:t>
            </a:r>
          </a:p>
          <a:p>
            <a:pPr marL="342900" indent="-342900">
              <a:buFont typeface="Arial" panose="020B0604020202020204" pitchFamily="34" charset="0"/>
              <a:buChar char="•"/>
            </a:pPr>
            <a:r>
              <a:rPr lang="en-US" sz="2400" dirty="0">
                <a:latin typeface="Arial Rounded MT Bold" panose="020F0704030504030204" pitchFamily="34" charset="0"/>
              </a:rPr>
              <a:t>AI automatically helps identify useful metrics and visualizations. </a:t>
            </a:r>
          </a:p>
          <a:p>
            <a:pPr marL="342900" indent="-342900">
              <a:buFont typeface="Arial" panose="020B0604020202020204" pitchFamily="34" charset="0"/>
              <a:buChar char="•"/>
            </a:pPr>
            <a:r>
              <a:rPr lang="en-US" sz="2400" dirty="0">
                <a:latin typeface="Arial Rounded MT Bold" panose="020F0704030504030204" pitchFamily="34" charset="0"/>
              </a:rPr>
              <a:t>It converts raw spreadsheet data into an understandable dashboard. </a:t>
            </a:r>
          </a:p>
          <a:p>
            <a:pPr marL="342900" indent="-342900">
              <a:buFont typeface="Arial" panose="020B0604020202020204" pitchFamily="34" charset="0"/>
              <a:buChar char="•"/>
            </a:pPr>
            <a:r>
              <a:rPr lang="en-US" sz="2400" dirty="0">
                <a:latin typeface="Arial Rounded MT Bold" panose="020F0704030504030204" pitchFamily="34" charset="0"/>
              </a:rPr>
              <a:t>The dashboard can be further </a:t>
            </a:r>
            <a:r>
              <a:rPr lang="en-US" sz="2400" b="1" dirty="0">
                <a:latin typeface="Arial Rounded MT Bold" panose="020F0704030504030204" pitchFamily="34" charset="0"/>
              </a:rPr>
              <a:t>edited and customized in Excel</a:t>
            </a:r>
            <a:r>
              <a:rPr lang="en-US" sz="2400" dirty="0">
                <a:latin typeface="Arial Rounded MT Bold" panose="020F0704030504030204" pitchFamily="34" charset="0"/>
              </a:rPr>
              <a:t>. </a:t>
            </a:r>
          </a:p>
          <a:p>
            <a:pPr marL="342900" indent="-342900">
              <a:buFont typeface="Arial" panose="020B0604020202020204" pitchFamily="34" charset="0"/>
              <a:buChar char="•"/>
            </a:pPr>
            <a:r>
              <a:rPr lang="en-US" sz="2400" dirty="0">
                <a:latin typeface="Arial Rounded MT Bold" panose="020F0704030504030204" pitchFamily="34" charset="0"/>
              </a:rPr>
              <a:t>It is useful for businesses, students, analysts and anyone working with spreadsheet data. </a:t>
            </a:r>
          </a:p>
          <a:p>
            <a:endParaRPr lang="en-US" sz="2400" dirty="0">
              <a:latin typeface="Arial Rounded MT Bold" panose="020F0704030504030204" pitchFamily="34" charset="0"/>
            </a:endParaRPr>
          </a:p>
        </p:txBody>
      </p:sp>
    </p:spTree>
    <p:extLst>
      <p:ext uri="{BB962C8B-B14F-4D97-AF65-F5344CB8AC3E}">
        <p14:creationId xmlns:p14="http://schemas.microsoft.com/office/powerpoint/2010/main" val="241193063"/>
      </p:ext>
    </p:extLst>
  </p:cSld>
  <p:clrMapOvr>
    <a:masterClrMapping/>
  </p:clrMapOvr>
  <p:transition spd="slow">
    <p:randomBar dir="vert"/>
  </p:transition>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448</TotalTime>
  <Words>322</Words>
  <Application>Microsoft Office PowerPoint</Application>
  <PresentationFormat>Widescreen</PresentationFormat>
  <Paragraphs>64</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Arial Rounded MT Bold</vt:lpstr>
      <vt:lpstr>Bookman Old Style</vt:lpstr>
      <vt:lpstr>Cambria</vt:lpstr>
      <vt:lpstr>Trebuchet MS</vt:lpstr>
      <vt:lpstr>Wingdings</vt:lpstr>
      <vt:lpstr>Wingdings 3</vt:lpstr>
      <vt:lpstr>Facet</vt:lpstr>
      <vt:lpstr>AI XLSX Dashboard Generator  </vt:lpstr>
      <vt:lpstr>Introduction to AI XLSX Dashboard Generator</vt:lpstr>
      <vt:lpstr>Key Features</vt:lpstr>
      <vt:lpstr> AI Features</vt:lpstr>
      <vt:lpstr>PowerPoint Presentation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Dateryx AI – AI-Powered Data Analysis &amp; Visualization Dateryx AI is a tool for analyzing and visualizing data.  It helps convert raw Excel and CSV data into meaningful information.  It automatically identifies important metrics and patterns.  It creates charts, KPIs, and dashboards from uploaded data.  It reduces the need for manual data analysis and coding.</dc:title>
  <dc:creator>Acer</dc:creator>
  <cp:lastModifiedBy>Acer</cp:lastModifiedBy>
  <cp:revision>21</cp:revision>
  <dcterms:created xsi:type="dcterms:W3CDTF">2026-09-24T15:42:23Z</dcterms:created>
  <dcterms:modified xsi:type="dcterms:W3CDTF">2026-09-27T14:24:24Z</dcterms:modified>
</cp:coreProperties>
</file>